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 1) Login como Calidad -&gt; Registrar MP -&gt; mostrar QR -&gt; descargar etiqueta. 2) Login como Logistica -&gt; Crear lote -&gt; Asociar la MP al lote. 3) Escanear el QR con el celular -&gt; trazabilidad hacia adelante. 4) Trazabilidad hacia atras desde el lote. 5) Reportes con un filtro aplicado. 6) Intentar entrar a /usuarios con un rol sin permiso -&gt; Acceso denegado. 7) Como supervision, mostrar Gestion de Usuarios.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C2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74320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08960"/>
            <a:ext cx="10058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Trazabilidad por QR · Helaspi · PP2 Industria 4.0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Trazabilidad por QR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PP2 — Industria 4.0  ·  Helaspi  ·  Guillermo Vivas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778240" y="822960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5" name="Shape 3"/>
          <p:cNvSpPr/>
          <p:nvPr/>
        </p:nvSpPr>
        <p:spPr>
          <a:xfrm>
            <a:off x="9162288" y="822960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0" y="1207008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7" name="Shape 5"/>
          <p:cNvSpPr/>
          <p:nvPr/>
        </p:nvSpPr>
        <p:spPr>
          <a:xfrm>
            <a:off x="9546336" y="1207008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8" name="Shape 6"/>
          <p:cNvSpPr/>
          <p:nvPr/>
        </p:nvSpPr>
        <p:spPr>
          <a:xfrm>
            <a:off x="9162288" y="1591056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9" name="Shape 7"/>
          <p:cNvSpPr/>
          <p:nvPr/>
        </p:nvSpPr>
        <p:spPr>
          <a:xfrm>
            <a:off x="9546336" y="1591056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10" name="Shape 8"/>
          <p:cNvSpPr/>
          <p:nvPr/>
        </p:nvSpPr>
        <p:spPr>
          <a:xfrm>
            <a:off x="8778240" y="1975104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11" name="Shape 9"/>
          <p:cNvSpPr/>
          <p:nvPr/>
        </p:nvSpPr>
        <p:spPr>
          <a:xfrm>
            <a:off x="9930384" y="822960"/>
            <a:ext cx="292608" cy="29260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12" name="Shape 10"/>
          <p:cNvSpPr/>
          <p:nvPr/>
        </p:nvSpPr>
        <p:spPr>
          <a:xfrm>
            <a:off x="8778240" y="822960"/>
            <a:ext cx="292608" cy="292608"/>
          </a:xfrm>
          <a:prstGeom prst="rect">
            <a:avLst/>
          </a:prstGeom>
          <a:solidFill>
            <a:srgbClr val="F2A54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05840" y="1874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Helaspi necesita poder responder, para cualquier helado despachado: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05840" y="2514600"/>
            <a:ext cx="384048" cy="384048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46888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proveedor vino la materia prima?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91840"/>
            <a:ext cx="384048" cy="384048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4612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lote de producción se usó?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5840" y="4069080"/>
            <a:ext cx="384048" cy="384048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0233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lotes usaron un insumo con un problema de calidad?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 digital, esa respuesta hoy depende de planillas manuales y memoria del personal — lenta y propensa a errores.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1C2B40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92240" y="1828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 4.0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3317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por lotes, con identificación automática (QR) y datos centralizados en una base única, en vez de registros en papel desconectados entre áreas.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92240" y="3703320"/>
            <a:ext cx="4663440" cy="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93192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9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proyecto: materia prima → lote de producción (no incluye distribución ni punto de venta).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sistema web que registre materia prima con una etiqueta QR, la asocie a lotes de producción, y permita reconstruir la trazabilidad completa — hacia adelante y hacia atrás — con control de acceso por rol.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77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Trazabilidad bidireccional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43484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→ lote y lote → MP, con proveedor en ambos sentidos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301752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0" y="3291840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977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Identificación por QR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443484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 real, escaneable, generada al registrar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26480" y="301752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3291840"/>
            <a:ext cx="548640" cy="5486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977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y permisos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3484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calidad, logística y supervisión, cada uno con su alcance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9680" y="301752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0" y="3291840"/>
            <a:ext cx="548640" cy="548640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39776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en vivo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443484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 filtros por fecha y proveedor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74320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HECHO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08960"/>
            <a:ext cx="1005840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datos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429000" cy="4114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6459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6F9BD1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103120"/>
            <a:ext cx="3429000" cy="411480"/>
          </a:xfrm>
          <a:prstGeom prst="rect">
            <a:avLst/>
          </a:prstGeom>
          <a:solidFill>
            <a:srgbClr val="6F9B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7556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2140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2944368"/>
            <a:ext cx="82296" cy="82296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por rol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538728"/>
            <a:ext cx="82296" cy="82296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4015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y lee el QR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4133088"/>
            <a:ext cx="82296" cy="82296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9959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(Recharts)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33832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3429000" cy="4114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6459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3A5A8C"/>
          </a:solidFill>
          <a:ln/>
        </p:spPr>
      </p:sp>
      <p:sp>
        <p:nvSpPr>
          <p:cNvPr id="17" name="Shape 15"/>
          <p:cNvSpPr/>
          <p:nvPr/>
        </p:nvSpPr>
        <p:spPr>
          <a:xfrm>
            <a:off x="4343400" y="2103120"/>
            <a:ext cx="3429000" cy="411480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0" y="17556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12140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17720" y="2944368"/>
            <a:ext cx="82296" cy="82296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4632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19 endpoints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17720" y="3538728"/>
            <a:ext cx="82296" cy="82296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46320" y="34015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JWT (8h)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7720" y="4133088"/>
            <a:ext cx="82296" cy="82296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39959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para contraseñas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33832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8046720" y="1645920"/>
            <a:ext cx="3429000" cy="4114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046720" y="16459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24344D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6720" y="2103120"/>
            <a:ext cx="3429000" cy="411480"/>
          </a:xfrm>
          <a:prstGeom prst="rect">
            <a:avLst/>
          </a:prstGeom>
          <a:solidFill>
            <a:srgbClr val="2434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5320" y="17556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212140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321040" y="2944368"/>
            <a:ext cx="82296" cy="82296"/>
          </a:xfrm>
          <a:prstGeom prst="ellipse">
            <a:avLst/>
          </a:prstGeom>
          <a:solidFill>
            <a:srgbClr val="24344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54964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entidades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321040" y="3538728"/>
            <a:ext cx="82296" cy="82296"/>
          </a:xfrm>
          <a:prstGeom prst="ellipse">
            <a:avLst/>
          </a:prstGeom>
          <a:solidFill>
            <a:srgbClr val="24344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49640" y="34015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lógica (sin DELETE físico)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321040" y="4133088"/>
            <a:ext cx="82296" cy="82296"/>
          </a:xfrm>
          <a:prstGeom prst="ellipse">
            <a:avLst/>
          </a:prstGeom>
          <a:solidFill>
            <a:srgbClr val="24344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549640" y="39959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 referencial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Comunicación: JSON sobre HTTP, con CORS habilitado. Todas las rutas (salvo login) exigen token JWT.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datos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54480"/>
            <a:ext cx="5120640" cy="502920"/>
          </a:xfrm>
          <a:prstGeom prst="roundRect">
            <a:avLst>
              <a:gd name="adj" fmla="val 18182"/>
            </a:avLst>
          </a:prstGeom>
          <a:solidFill>
            <a:srgbClr val="6F9BD1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5120640" cy="228600"/>
          </a:xfrm>
          <a:prstGeom prst="rect">
            <a:avLst/>
          </a:prstGeom>
          <a:solidFill>
            <a:srgbClr val="6F9B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Proveedor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id_proveedor PK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06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contacto, telefono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0" y="1554480"/>
            <a:ext cx="5120640" cy="502920"/>
          </a:xfrm>
          <a:prstGeom prst="roundRect">
            <a:avLst>
              <a:gd name="adj" fmla="val 18182"/>
            </a:avLst>
          </a:prstGeom>
          <a:solidFill>
            <a:srgbClr val="3A5A8C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0" y="1828800"/>
            <a:ext cx="5120640" cy="228600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id_usuario PK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606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 calidad / logistica / supervision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7490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749040"/>
            <a:ext cx="5120640" cy="502920"/>
          </a:xfrm>
          <a:prstGeom prst="roundRect">
            <a:avLst>
              <a:gd name="adj" fmla="val 18182"/>
            </a:avLst>
          </a:prstGeom>
          <a:solidFill>
            <a:srgbClr val="24344D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4023360"/>
            <a:ext cx="5120640" cy="228600"/>
          </a:xfrm>
          <a:prstGeom prst="rect">
            <a:avLst/>
          </a:prstGeom>
          <a:solidFill>
            <a:srgbClr val="2434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3749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MateriaPrima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id_materia_prima PK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id_proveedor FK, id_lote_produccion FK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disponible / utilizada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0" y="37490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3749040"/>
            <a:ext cx="5120640" cy="502920"/>
          </a:xfrm>
          <a:prstGeom prst="roundRect">
            <a:avLst>
              <a:gd name="adj" fmla="val 18182"/>
            </a:avLst>
          </a:prstGeom>
          <a:solidFill>
            <a:srgbClr val="C45B4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0800" y="4023360"/>
            <a:ext cx="5120640" cy="228600"/>
          </a:xfrm>
          <a:prstGeom prst="rect">
            <a:avLst/>
          </a:prstGeom>
          <a:solidFill>
            <a:srgbClr val="C45B4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9400" y="3749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LoteProduccion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id_lote_produccion PK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id_usuario_responsable FK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en_proceso / finalizado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Decisión: ninguna tabla se borra físicamente. "Dar de baja" = activo = false, para no perder la trazabilidad de datos ya referenciados.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74320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08960"/>
            <a:ext cx="1005840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clave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Etiqueta QR y trazabilidad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94360" cy="594360"/>
          </a:xfrm>
          <a:prstGeom prst="ellipse">
            <a:avLst/>
          </a:prstGeom>
          <a:solidFill>
            <a:srgbClr val="24344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37260" y="2331720"/>
            <a:ext cx="0" cy="457200"/>
          </a:xfrm>
          <a:prstGeom prst="line">
            <a:avLst/>
          </a:prstGeom>
          <a:noFill/>
          <a:ln w="25400">
            <a:solidFill>
              <a:srgbClr val="6F9BD1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463040" y="169164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7373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materia prima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0848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carga nombre, proveedor y fecha de ingreso.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594360" cy="594360"/>
          </a:xfrm>
          <a:prstGeom prst="ellipse">
            <a:avLst/>
          </a:prstGeom>
          <a:solidFill>
            <a:srgbClr val="2434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88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37260" y="3383280"/>
            <a:ext cx="0" cy="457200"/>
          </a:xfrm>
          <a:prstGeom prst="line">
            <a:avLst/>
          </a:prstGeom>
          <a:noFill/>
          <a:ln w="25400">
            <a:solidFill>
              <a:srgbClr val="6F9BD1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463040" y="274320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73736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 generado automático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1363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arma una etiqueta descargable (PNG) con un link a la trazabilidad de esa MP.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594360" cy="594360"/>
          </a:xfrm>
          <a:prstGeom prst="ellipse">
            <a:avLst/>
          </a:prstGeom>
          <a:solidFill>
            <a:srgbClr val="2434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840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37260" y="4434840"/>
            <a:ext cx="0" cy="457200"/>
          </a:xfrm>
          <a:prstGeom prst="line">
            <a:avLst/>
          </a:prstGeom>
          <a:noFill/>
          <a:ln w="25400">
            <a:solidFill>
              <a:srgbClr val="6F9BD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463040" y="379476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73736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Asociar a un lote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41879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asocia la MP disponible a un lote de producción.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892040"/>
            <a:ext cx="594360" cy="594360"/>
          </a:xfrm>
          <a:prstGeom prst="ellipse">
            <a:avLst/>
          </a:prstGeom>
          <a:solidFill>
            <a:srgbClr val="24344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4892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463040" y="484632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73736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Escanear y consultar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1737360" y="52395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celular en red, escaneando el QR, abre directo la trazabilidad — sin tipear nada.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55280" y="17373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1C2B40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codifica el QR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229600" y="246888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467344" y="246888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8705088" y="246888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80576" y="246888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9656064" y="246888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9893808" y="246888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10131552" y="246888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8229600" y="270662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8705088" y="270662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9418320" y="270662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31552" y="270662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8229600" y="294436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8705088" y="294436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9180576" y="294436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9656064" y="294436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31552" y="294436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9180576" y="318211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9418320" y="318211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8229600" y="3419856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8467344" y="3419856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8942832" y="3419856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9418320" y="3419856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9893808" y="3419856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31552" y="3419856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50"/>
          <p:cNvSpPr/>
          <p:nvPr/>
        </p:nvSpPr>
        <p:spPr>
          <a:xfrm>
            <a:off x="8705088" y="365760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9180576" y="365760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9656064" y="3657600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8229600" y="389534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8705088" y="389534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9180576" y="389534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9656064" y="389534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Shape 57"/>
          <p:cNvSpPr/>
          <p:nvPr/>
        </p:nvSpPr>
        <p:spPr>
          <a:xfrm>
            <a:off x="10131552" y="389534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8229600" y="413308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942832" y="413308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9656064" y="413308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10131552" y="4133088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hape 62"/>
          <p:cNvSpPr/>
          <p:nvPr/>
        </p:nvSpPr>
        <p:spPr>
          <a:xfrm>
            <a:off x="8229600" y="437083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Shape 63"/>
          <p:cNvSpPr/>
          <p:nvPr/>
        </p:nvSpPr>
        <p:spPr>
          <a:xfrm>
            <a:off x="8467344" y="437083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8705088" y="437083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9180576" y="437083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9418320" y="437083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hape 67"/>
          <p:cNvSpPr/>
          <p:nvPr/>
        </p:nvSpPr>
        <p:spPr>
          <a:xfrm>
            <a:off x="9656064" y="437083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10131552" y="4370832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8229600" y="4800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una URL con el ID de la materia prima — no los datos. Los datos siempre se leen en vivo desde PostgreSQL, así la etiqueta impresa nunca queda desactualizada.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y permisos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4754880" cy="566928"/>
          </a:xfrm>
          <a:prstGeom prst="rect">
            <a:avLst/>
          </a:prstGeom>
          <a:solidFill>
            <a:srgbClr val="1C2B40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94960" y="1645920"/>
            <a:ext cx="2011680" cy="566928"/>
          </a:xfrm>
          <a:prstGeom prst="rect">
            <a:avLst/>
          </a:prstGeom>
          <a:solidFill>
            <a:srgbClr val="1C2B40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32120" y="16459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06640" y="1645920"/>
            <a:ext cx="2011680" cy="566928"/>
          </a:xfrm>
          <a:prstGeom prst="rect">
            <a:avLst/>
          </a:prstGeom>
          <a:solidFill>
            <a:srgbClr val="1C2B40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43800" y="16459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418320" y="1645920"/>
            <a:ext cx="2011680" cy="566928"/>
          </a:xfrm>
          <a:prstGeom prst="rect">
            <a:avLst/>
          </a:prstGeom>
          <a:solidFill>
            <a:srgbClr val="1C2B40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55480" y="16459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Supervisión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212848"/>
            <a:ext cx="47548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212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Proveedor: crear / editar / baja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394960" y="2212848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32120" y="22128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06640" y="2212848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43800" y="22128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418320" y="2212848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55480" y="22128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779776"/>
            <a:ext cx="47548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277977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prima: crear / editar / baja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94960" y="2779776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7797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06640" y="2779776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43800" y="27797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418320" y="2779776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55480" y="27797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346704"/>
            <a:ext cx="47548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34670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Asociar materia prima a lote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394960" y="3346704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32120" y="334670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406640" y="3346704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43800" y="334670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418320" y="3346704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55480" y="334670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913632"/>
            <a:ext cx="47548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3913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Lote: crear / editar / baja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394960" y="3913632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3913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406640" y="3913632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43800" y="3913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9418320" y="3913632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55480" y="3913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480560"/>
            <a:ext cx="47548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7240" y="448056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(trazabilidad, reportes)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394960" y="4480560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532120" y="44805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7406640" y="4480560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543800" y="44805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9418320" y="4480560"/>
            <a:ext cx="2011680" cy="566928"/>
          </a:xfrm>
          <a:prstGeom prst="rect">
            <a:avLst/>
          </a:prstGeom>
          <a:solidFill>
            <a:srgbClr val="EEF1F6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555480" y="44805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40080" y="5047488"/>
            <a:ext cx="47548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77240" y="504748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usuarios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394960" y="5047488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532120" y="504748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406640" y="5047488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543800" y="504748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9418320" y="5047488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555480" y="504748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588873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reforzado por middleware en el backend (verificarToken + verificarRol), no solo ocultando botones en el front.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Tablero de KPIs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endpoint agregado (GET /reportes/resumen), con filtro por rango de fechas y proveedor, valida en backend y frontend.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42032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1752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 registrada en el período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542032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2377440"/>
            <a:ext cx="502920" cy="502920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118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01752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 por proveedor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2103120"/>
            <a:ext cx="2542032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237744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550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01752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Lotes por estado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0" y="2103120"/>
            <a:ext cx="2542032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98280" y="2377440"/>
            <a:ext cx="502920" cy="502920"/>
          </a:xfrm>
          <a:prstGeom prst="ellipse">
            <a:avLst/>
          </a:prstGeom>
          <a:solidFill>
            <a:srgbClr val="C45B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0982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01752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 utilizada vs. disponible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1C2B40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1440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de fechas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5262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"desde" es posterior a "hasta", el frontend corta antes de pedir al servidor — y el backend igual responde 400 si llegara un caso inválido por otra vía.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26480" y="4160520"/>
            <a:ext cx="0" cy="150876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de prueba limpios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526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consulta de "MP por proveedor" filtra proveedores activos, para que los que se dieron de baja en las pruebas no ensucien el tablero.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74320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VALIDÓ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08960"/>
            <a:ext cx="1005840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y uso de IA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70/70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423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aserciones Postman (Newman)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A5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8/8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2423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del escenario E2E (Playwright)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5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423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detectados y corregidos (H1–H6)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434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2423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documentados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971800"/>
            <a:ext cx="10881360" cy="0"/>
          </a:xfrm>
          <a:prstGeom prst="line">
            <a:avLst/>
          </a:prstGeom>
          <a:noFill/>
          <a:ln w="12700">
            <a:solidFill>
              <a:srgbClr val="DCE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246120"/>
            <a:ext cx="108813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2461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24612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Escalada de privilegios en usuarios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324612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721608"/>
            <a:ext cx="10881360" cy="475488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72160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7216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utilizada se podía reasignar a otro lote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372160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197096"/>
            <a:ext cx="108813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197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197096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utilizada se podía seguir editando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419709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672584"/>
            <a:ext cx="10881360" cy="475488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67258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67258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un lote sin "estado" reabría uno finalizado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12680" y="467258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148072"/>
            <a:ext cx="108813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1480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14807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repetido devolvía 200 en vez de 404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514807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5623560"/>
            <a:ext cx="10881360" cy="475488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62356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562356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Faltaba el endpoint de trazabilidad hacia adelante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012680" y="56235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IA en el desarrollo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usó asistencia de IA como herramienta de desarrollo, con registro de cada decisión en bitácoras — una por semana de trabajo.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59152"/>
            <a:ext cx="548640" cy="548640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59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240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propuesta se revisó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6060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código real del proyecto antes de aplicarla (ej.: se corrigió una propuesta que apuntaba a la pantalla equivocada de trazabilidad).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593592"/>
            <a:ext cx="548640" cy="548640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593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747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decisiones de diseño quedaron registradas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84048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"por qué", no solo el "qué" — alternativas consideradas y motivo de la elegida.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828032"/>
            <a:ext cx="548640" cy="54864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828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709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se probó antes de darlo por hecho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50749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Postman/Newman, el escenario E2E, y pruebas manuales con capturas.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74320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108960"/>
            <a:ext cx="1005840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aprendizajes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4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técnico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2395728"/>
            <a:ext cx="82296" cy="82296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21945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bidireccional completa, con QR real y datos siempre vigentes (no se imprimen datos, solo un link).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60120" y="3401568"/>
            <a:ext cx="82296" cy="82296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32004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por rol verificada con pruebas automatizadas, no solo "a ojo".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407408"/>
            <a:ext cx="82296" cy="82296"/>
          </a:xfrm>
          <a:prstGeom prst="ellipse">
            <a:avLst/>
          </a:prstGeom>
          <a:solidFill>
            <a:srgbClr val="6F9BD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4206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hallazgos de seguridad/consistencia encontrados y corregidos con evidencia (Newman, E2E).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2648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1C2B40"/>
          </a:solidFill>
          <a:ln/>
          <a:effectLst>
            <a:outerShdw sx="100000" sy="100000" kx="0" ky="0" algn="bl" rotWithShape="0" blurRad="101600" dist="38100" dir="5400000">
              <a:srgbClr val="1C2B4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4652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Aprendizajes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46520" y="2395728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194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IA como asistente exige revisar cada propuesta contra el código real — no se puede aceptar a ciegas.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3401568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0" y="32004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las decisiones (y no solo el código) fue tan importante como el código en sí.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46520" y="4407408"/>
            <a:ext cx="82296" cy="82296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2062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como mejora futura: lector de QR integrado en la app (hoy depende de la cámara del celular).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defensa  ·  Guillermo Vivas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laspi">
  <a:themeElements>
    <a:clrScheme name="Helaspi">
      <a:dk1>
        <a:srgbClr val="1C2B40"/>
      </a:dk1>
      <a:lt1>
        <a:srgbClr val="FFFFFF"/>
      </a:lt1>
      <a:dk2>
        <a:srgbClr val="3A5A8C"/>
      </a:dk2>
      <a:lt2>
        <a:srgbClr val="F5F6F8"/>
      </a:lt2>
      <a:accent1>
        <a:srgbClr val="6F9BD1"/>
      </a:accent1>
      <a:accent2>
        <a:srgbClr val="F2A541"/>
      </a:accent2>
      <a:accent3>
        <a:srgbClr val="97BC62"/>
      </a:accent3>
      <a:accent4>
        <a:srgbClr val="C45B4F"/>
      </a:accent4>
      <a:accent5>
        <a:srgbClr val="9FC1E6"/>
      </a:accent5>
      <a:accent6>
        <a:srgbClr val="24344D"/>
      </a:accent6>
      <a:hlink>
        <a:srgbClr val="3A5A8C"/>
      </a:hlink>
      <a:folHlink>
        <a:srgbClr val="6F9BD1"/>
      </a:folHlink>
    </a:clrScheme>
    <a:fontScheme name="Helasp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Helaspi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Trazabilidad por QR - Helaspi</dc:title>
  <dc:subject>PptxGenJS Presentation</dc:subject>
  <dc:creator>Guillermo Vivas</dc:creator>
  <cp:lastModifiedBy>Guillermo Vivas</cp:lastModifiedBy>
  <cp:revision>1</cp:revision>
  <dcterms:created xsi:type="dcterms:W3CDTF">2026-10-07T22:59:22Z</dcterms:created>
  <dcterms:modified xsi:type="dcterms:W3CDTF">2026-10-07T22:59:22Z</dcterms:modified>
</cp:coreProperties>
</file>