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6"/>
    <p:sldId id="261" r:id="rId7"/>
    <p:sldId id="263" r:id="rId9"/>
    <p:sldId id="264" r:id="rId10"/>
    <p:sldId id="267" r:id="rId13"/>
    <p:sldId id="268" r:id="rId14"/>
    <p:sldId id="272" r:id="rId23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200"/>
              <a:t>🎙 NARRACIÓN (leer al grabar, ~8 s):</a:t>
            </a:r>
            <a:endParaRPr lang="en-US" dirty="0"/>
          </a:p>
          <a:p>
            <a:r>
              <a:rPr sz="1400"/>
              <a:t>Hola, soy Guillermo Vivas. Les presento mi proyecto final: un sistema de trazabilidad por código QR para Helaspi, una planta de helados.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200"/>
              <a:t>🎙 NARRACIÓN (leer al grabar, ~35 s):</a:t>
            </a:r>
            <a:endParaRPr lang="en-US" dirty="0"/>
          </a:p>
          <a:p>
            <a:r>
              <a:rPr sz="1400"/>
              <a:t>Helaspi necesita saber, para cada helado que despacha, de qué proveedor vino la materia prima, en qué lote se usó y qué lotes usaron un insumo con problemas. Hoy eso depende de planillas y de la memoria del personal. Mi propuesta es identificar cada insumo con un código QR y centralizar los datos en una sola base, para consultarlos al instante. El alcance va desde el ingreso de la materia prima hasta el lote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200"/>
              <a:t>🎙 NARRACIÓN (leer al grabar, ~40 s):</a:t>
            </a:r>
            <a:endParaRPr lang="en-US" dirty="0"/>
          </a:p>
          <a:p>
            <a:r>
              <a:rPr sz="1400"/>
              <a:t>El sistema tiene tres partes. Las pantallas están hechas con React; el servidor, con Node.js y Express; y los datos se guardan en PostgreSQL. Se comunican por una API REST: 25 "puertas de entrada" por donde la pantalla pide o guarda datos. Al iniciar sesión, el sistema entrega un token JWT, un pase digital que vence a las 8 horas. Y las contraseñas se guardan cifradas con bcrypt, de modo que nadie puede leerlas, ni siquiera el administrador.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200"/>
              <a:t>🎙 NARRACIÓN (leer al grabar, ~30 s):</a:t>
            </a:r>
            <a:endParaRPr lang="en-US" dirty="0"/>
          </a:p>
          <a:p>
            <a:r>
              <a:rPr sz="1400"/>
              <a:t>La base tiene cuatro tablas: Proveedor, Usuario, Materia Prima y Lote de Producción. Se conectan entre sí: cada materia prima apunta a su proveedor y al lote donde se usó. Una decisión clave: nada se borra de verdad. Dar de baja solo marca el registro como inactivo, para que la historia de la trazabilidad nunca se pierda.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200"/>
              <a:t>🎙 NARRACIÓN (leer al grabar, ~35 s):</a:t>
            </a:r>
            <a:endParaRPr lang="en-US" dirty="0"/>
          </a:p>
          <a:p>
            <a:r>
              <a:rPr sz="1400"/>
              <a:t>El recorrido es simple. Calidad registra la materia prima y el sistema genera una etiqueta QR para imprimir. Logística la asocia a un lote. Y al escanear el QR con el celular, en la misma red y con sesión iniciada, se abre su trazabilidad. El QR no guarda los datos, solo un link: por eso la etiqueta nunca queda desactualizada.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200"/>
              <a:t>🎙 NARRACIÓN (leer al grabar, ~30 s):</a:t>
            </a:r>
            <a:endParaRPr lang="en-US" dirty="0"/>
          </a:p>
          <a:p>
            <a:r>
              <a:rPr sz="1400"/>
              <a:t>Hay tres roles: Calidad gestiona la materia prima, Logística los lotes, y Supervisión todo, incluidos los usuarios. Los permisos no dependen de ocultar botones: el servidor revisa cada pedido con un filtro, llamado middleware, que verifica la sesión y el rol. Si no corresponde, lo rechaza.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200"/>
              <a:t>🎙 NARRACIÓN (leer al grabar, ~30 s):</a:t>
            </a:r>
          </a:p>
          <a:p>
            <a:r>
              <a:rPr sz="1400"/>
              <a:t>El sistema tiene límites identificados. El QR depende de la dirección de la computadora: si cambia la red, la etiqueta deja de abrir; se resuelve publicándolo con un dominio fijo. Además, los proveedores todavía no tienen pantalla propia, y algunas reglas se controlan solo en la interfaz. Cada límite tiene una mejora prevista.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200"/>
              <a:t>🎙 NARRACIÓN (leer al grabar, ~40 s):</a:t>
            </a:r>
            <a:endParaRPr lang="en-US" dirty="0"/>
          </a:p>
          <a:p>
            <a:r>
              <a:rPr sz="1400"/>
              <a:t>Probé el sistema con pruebas automáticas: 70 comprobaciones sobre la API con Postman y Newman, y una prueba de punta a punta en el navegador con Playwright. Hoy pasan todas. Esas pruebas encontraron 6 errores, que llamé hallazgos, y los corregí y documenté. El más importante: un usuario podía darse a sí mismo el rol de supervisor; lo bloqueé en el servidor.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200"/>
              <a:t>🎙 NARRACIÓN (leer al grabar, ~25 s):</a:t>
            </a:r>
            <a:endParaRPr lang="en-US" dirty="0"/>
          </a:p>
          <a:p>
            <a:r>
              <a:rPr sz="1400"/>
              <a:t>Usé Claude, de Anthropic, como asistente de desarrollo. Registré cada uso en bitácoras: qué pedí, qué acepté, qué modifiqué y cómo lo probé. Ninguna propuesta se aplicó sin revisarla contra el código y probarla.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200"/>
              <a:t>🎙 NARRACIÓN (leer al grabar, ~25 s):</a:t>
            </a:r>
            <a:endParaRPr lang="en-US" dirty="0"/>
          </a:p>
          <a:p>
            <a:r>
              <a:rPr sz="1400"/>
              <a:t>En resumen: el sistema logra trazabilidad completa en los dos sentidos, con QR real y seguridad por roles probada. Aprendí que la IA exige revisar cada propuesta, que documentar decisiones vale tanto como el código, y que las pruebas encuentran errores que a simple vista no se 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200"/>
              <a:t>🎙 NARRACIÓN (leer al grabar, ~3 s):</a:t>
            </a:r>
            <a:endParaRPr lang="en-US" dirty="0"/>
          </a:p>
          <a:p>
            <a:r>
              <a:rPr sz="1400"/>
              <a:t>Gracias por su atención.</a:t>
            </a:r>
          </a:p>
          <a:p/>
          <a:p>
            <a:r>
              <a:rPr sz="1200" b="1"/>
              <a:t>GUION DE LA DEMO EN VIVO (no se graba · ~4 min):</a:t>
            </a:r>
          </a:p>
          <a:p>
            <a:r>
              <a:rPr sz="1200" b="0"/>
              <a:t>1. Calidad → Registrar MP → mostrar el QR → descargar la etiqueta (~40 s)</a:t>
            </a:r>
          </a:p>
          <a:p>
            <a:r>
              <a:rPr sz="1200" b="0"/>
              <a:t>2. Logística → Crear lote → Asociar la MP al lote (~50 s)</a:t>
            </a:r>
          </a:p>
          <a:p>
            <a:r>
              <a:rPr sz="1200" b="0"/>
              <a:t>3. Escanear el QR con el celular → trazabilidad hacia adelante (~30 s)</a:t>
            </a:r>
          </a:p>
          <a:p>
            <a:r>
              <a:rPr sz="1200" b="0"/>
              <a:t>4. Trazabilidad hacia atrás desde el lote (~20 s)</a:t>
            </a:r>
          </a:p>
          <a:p>
            <a:r>
              <a:rPr sz="1200" b="0"/>
              <a:t>5. Reportes con un filtro aplicado (~25 s)</a:t>
            </a:r>
          </a:p>
          <a:p>
            <a:r>
              <a:rPr sz="1200" b="0"/>
              <a:t>6. Entrar a /usuarios con un rol sin permiso → Acceso denegado (~15 s)</a:t>
            </a:r>
          </a:p>
          <a:p>
            <a:r>
              <a:rPr sz="1200" b="0"/>
              <a:t>7. Supervisión → Gestión de usuarios (~20 s)</a:t>
            </a:r>
          </a:p>
          <a:p>
            <a:r>
              <a:rPr sz="1200" b="0"/>
              <a:t>Preparar antes: sesiones abiertas de cada rol (ej.: un navegador normal y otro en incógnito), celular en la misma red y backend/frontend levantados.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C2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317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886200"/>
            <a:ext cx="10515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C2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743200"/>
            <a:ext cx="91440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3108960"/>
            <a:ext cx="100584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Trazabilidad por QR · Helaspi · PP2 Industria 4.0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Trazabilidad por QR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2651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Helaspi — trazabilidad de materia prima y lotes de producción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778240" y="822960"/>
            <a:ext cx="292608" cy="292608"/>
          </a:xfrm>
          <a:prstGeom prst="rect">
            <a:avLst/>
          </a:prstGeom>
          <a:solidFill>
            <a:srgbClr val="3A5A8C"/>
          </a:solidFill>
          <a:ln/>
        </p:spPr>
      </p:sp>
      <p:sp>
        <p:nvSpPr>
          <p:cNvPr id="5" name="Shape 3"/>
          <p:cNvSpPr/>
          <p:nvPr/>
        </p:nvSpPr>
        <p:spPr>
          <a:xfrm>
            <a:off x="9162288" y="822960"/>
            <a:ext cx="292608" cy="292608"/>
          </a:xfrm>
          <a:prstGeom prst="rect">
            <a:avLst/>
          </a:prstGeom>
          <a:solidFill>
            <a:srgbClr val="3A5A8C"/>
          </a:solidFill>
          <a:ln/>
        </p:spPr>
      </p:sp>
      <p:sp>
        <p:nvSpPr>
          <p:cNvPr id="6" name="Shape 4"/>
          <p:cNvSpPr/>
          <p:nvPr/>
        </p:nvSpPr>
        <p:spPr>
          <a:xfrm>
            <a:off x="8778240" y="1207008"/>
            <a:ext cx="292608" cy="292608"/>
          </a:xfrm>
          <a:prstGeom prst="rect">
            <a:avLst/>
          </a:prstGeom>
          <a:solidFill>
            <a:srgbClr val="3A5A8C"/>
          </a:solidFill>
          <a:ln/>
        </p:spPr>
      </p:sp>
      <p:sp>
        <p:nvSpPr>
          <p:cNvPr id="7" name="Shape 5"/>
          <p:cNvSpPr/>
          <p:nvPr/>
        </p:nvSpPr>
        <p:spPr>
          <a:xfrm>
            <a:off x="9546336" y="1207008"/>
            <a:ext cx="292608" cy="292608"/>
          </a:xfrm>
          <a:prstGeom prst="rect">
            <a:avLst/>
          </a:prstGeom>
          <a:solidFill>
            <a:srgbClr val="3A5A8C"/>
          </a:solidFill>
          <a:ln/>
        </p:spPr>
      </p:sp>
      <p:sp>
        <p:nvSpPr>
          <p:cNvPr id="8" name="Shape 6"/>
          <p:cNvSpPr/>
          <p:nvPr/>
        </p:nvSpPr>
        <p:spPr>
          <a:xfrm>
            <a:off x="9162288" y="1591056"/>
            <a:ext cx="292608" cy="292608"/>
          </a:xfrm>
          <a:prstGeom prst="rect">
            <a:avLst/>
          </a:prstGeom>
          <a:solidFill>
            <a:srgbClr val="3A5A8C"/>
          </a:solidFill>
          <a:ln/>
        </p:spPr>
      </p:sp>
      <p:sp>
        <p:nvSpPr>
          <p:cNvPr id="9" name="Shape 7"/>
          <p:cNvSpPr/>
          <p:nvPr/>
        </p:nvSpPr>
        <p:spPr>
          <a:xfrm>
            <a:off x="9546336" y="1591056"/>
            <a:ext cx="292608" cy="292608"/>
          </a:xfrm>
          <a:prstGeom prst="rect">
            <a:avLst/>
          </a:prstGeom>
          <a:solidFill>
            <a:srgbClr val="3A5A8C"/>
          </a:solidFill>
          <a:ln/>
        </p:spPr>
      </p:sp>
      <p:sp>
        <p:nvSpPr>
          <p:cNvPr id="10" name="Shape 8"/>
          <p:cNvSpPr/>
          <p:nvPr/>
        </p:nvSpPr>
        <p:spPr>
          <a:xfrm>
            <a:off x="8778240" y="1975104"/>
            <a:ext cx="292608" cy="292608"/>
          </a:xfrm>
          <a:prstGeom prst="rect">
            <a:avLst/>
          </a:prstGeom>
          <a:solidFill>
            <a:srgbClr val="3A5A8C"/>
          </a:solidFill>
          <a:ln/>
        </p:spPr>
      </p:sp>
      <p:sp>
        <p:nvSpPr>
          <p:cNvPr id="11" name="Shape 9"/>
          <p:cNvSpPr/>
          <p:nvPr/>
        </p:nvSpPr>
        <p:spPr>
          <a:xfrm>
            <a:off x="9930384" y="822960"/>
            <a:ext cx="292608" cy="292608"/>
          </a:xfrm>
          <a:prstGeom prst="rect">
            <a:avLst/>
          </a:prstGeom>
          <a:solidFill>
            <a:srgbClr val="3A5A8C"/>
          </a:solidFill>
          <a:ln/>
        </p:spPr>
      </p:sp>
      <p:sp>
        <p:nvSpPr>
          <p:cNvPr id="12" name="Shape 10"/>
          <p:cNvSpPr/>
          <p:nvPr/>
        </p:nvSpPr>
        <p:spPr>
          <a:xfrm>
            <a:off x="8778240" y="822960"/>
            <a:ext cx="292608" cy="292608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30" name="Portada 30"/>
          <p:cNvSpPr txBox="1"/>
          <p:nvPr/>
        </p:nvSpPr>
        <p:spPr>
          <a:xfrm>
            <a:off x="914400" y="11887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s-AR" sz="1200" b="1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 ·  INDUSTRIA 4.0</a:t>
            </a:r>
          </a:p>
        </p:txBody>
      </p:sp>
      <p:sp>
        <p:nvSpPr>
          <p:cNvPr id="31" name="Portada 31"/>
          <p:cNvSpPr txBox="1"/>
          <p:nvPr/>
        </p:nvSpPr>
        <p:spPr>
          <a:xfrm>
            <a:off x="914400" y="3840480"/>
            <a:ext cx="475488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s-AR" sz="1050" b="1" spc="1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ALUMNO</a:t>
            </a:r>
          </a:p>
        </p:txBody>
      </p:sp>
      <p:sp>
        <p:nvSpPr>
          <p:cNvPr id="32" name="Portada 32"/>
          <p:cNvSpPr txBox="1"/>
          <p:nvPr/>
        </p:nvSpPr>
        <p:spPr>
          <a:xfrm>
            <a:off x="914400" y="416052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s-AR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Guillermo Vivas</a:t>
            </a:r>
          </a:p>
        </p:txBody>
      </p:sp>
      <p:sp>
        <p:nvSpPr>
          <p:cNvPr id="33" name="Portada 33"/>
          <p:cNvSpPr txBox="1"/>
          <p:nvPr/>
        </p:nvSpPr>
        <p:spPr>
          <a:xfrm>
            <a:off x="5943600" y="3840480"/>
            <a:ext cx="53949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s-AR" sz="1050" b="1" spc="1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</a:t>
            </a:r>
          </a:p>
        </p:txBody>
      </p:sp>
      <p:sp>
        <p:nvSpPr>
          <p:cNvPr id="34" name="Portada 34"/>
          <p:cNvSpPr txBox="1"/>
          <p:nvPr/>
        </p:nvSpPr>
        <p:spPr>
          <a:xfrm>
            <a:off x="5943600" y="4160520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s-AR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Cristian Caón</a:t>
            </a:r>
          </a:p>
        </p:txBody>
      </p:sp>
      <p:sp>
        <p:nvSpPr>
          <p:cNvPr id="35" name="Portada 35"/>
          <p:cNvSpPr txBox="1"/>
          <p:nvPr/>
        </p:nvSpPr>
        <p:spPr>
          <a:xfrm>
            <a:off x="914400" y="4937760"/>
            <a:ext cx="475488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s-AR" sz="1050" b="1" spc="1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</a:t>
            </a:r>
          </a:p>
        </p:txBody>
      </p:sp>
      <p:sp>
        <p:nvSpPr>
          <p:cNvPr id="36" name="Portada 36"/>
          <p:cNvSpPr txBox="1"/>
          <p:nvPr/>
        </p:nvSpPr>
        <p:spPr>
          <a:xfrm>
            <a:off x="914400" y="52578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s-AR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Profesionalizante II</a:t>
            </a:r>
          </a:p>
        </p:txBody>
      </p:sp>
      <p:sp>
        <p:nvSpPr>
          <p:cNvPr id="37" name="Portada 37"/>
          <p:cNvSpPr txBox="1"/>
          <p:nvPr/>
        </p:nvSpPr>
        <p:spPr>
          <a:xfrm>
            <a:off x="5943600" y="4937760"/>
            <a:ext cx="53949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s-AR" sz="1050" b="1" spc="1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DE CURSADO</a:t>
            </a:r>
          </a:p>
        </p:txBody>
      </p:sp>
      <p:sp>
        <p:nvSpPr>
          <p:cNvPr id="38" name="Portada 38"/>
          <p:cNvSpPr txBox="1"/>
          <p:nvPr/>
        </p:nvSpPr>
        <p:spPr>
          <a:xfrm>
            <a:off x="5943600" y="5257800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s-AR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3.er año — Desarrollo de Software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05840" y="18745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Helaspi necesita poder responder, para cualquier helado despachado: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05840" y="2514600"/>
            <a:ext cx="384048" cy="384048"/>
          </a:xfrm>
          <a:prstGeom prst="ellipse">
            <a:avLst/>
          </a:prstGeom>
          <a:solidFill>
            <a:srgbClr val="6F9BD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4688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 qué proveedor vino la materia prima?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05840" y="3291840"/>
            <a:ext cx="384048" cy="384048"/>
          </a:xfrm>
          <a:prstGeom prst="ellipse">
            <a:avLst/>
          </a:prstGeom>
          <a:solidFill>
            <a:srgbClr val="6F9BD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584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32461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lote de producción se usó?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4069080"/>
            <a:ext cx="384048" cy="384048"/>
          </a:xfrm>
          <a:prstGeom prst="ellipse">
            <a:avLst/>
          </a:prstGeom>
          <a:solidFill>
            <a:srgbClr val="6F9BD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0584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402336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lotes usaron un insumo con un problema de calidad?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50292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trazabilidad digital, esa respuesta hoy depende de planillas manuales y memoria del personal — lenta y propensa a errores.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26480" y="155448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1C2B40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92240" y="18288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 4.0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33172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por lotes, con identificación automática (QR) y datos centralizados en una base única, en vez de registros en papel desconectados entre áreas.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92240" y="3703320"/>
            <a:ext cx="4663440" cy="0"/>
          </a:xfrm>
          <a:prstGeom prst="line">
            <a:avLst/>
          </a:prstGeom>
          <a:noFill/>
          <a:ln w="12700">
            <a:solidFill>
              <a:srgbClr val="3A5A8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92240" y="393192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del proyecto: materia prima → lote de producción (no incluye distribución ni punto de venta).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del sistema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3429000" cy="41148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645920"/>
            <a:ext cx="3429000" cy="868680"/>
          </a:xfrm>
          <a:prstGeom prst="roundRect">
            <a:avLst>
              <a:gd name="adj" fmla="val 12632"/>
            </a:avLst>
          </a:prstGeom>
          <a:solidFill>
            <a:srgbClr val="6F9BD1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103120"/>
            <a:ext cx="3429000" cy="411480"/>
          </a:xfrm>
          <a:prstGeom prst="rect">
            <a:avLst/>
          </a:prstGeom>
          <a:solidFill>
            <a:srgbClr val="6F9BD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5564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1214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2944368"/>
            <a:ext cx="82296" cy="82296"/>
          </a:xfrm>
          <a:prstGeom prst="ellipse">
            <a:avLst/>
          </a:prstGeom>
          <a:solidFill>
            <a:srgbClr val="6F9BD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28072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por rol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538728"/>
            <a:ext cx="82296" cy="82296"/>
          </a:xfrm>
          <a:prstGeom prst="ellipse">
            <a:avLst/>
          </a:prstGeom>
          <a:solidFill>
            <a:srgbClr val="6F9BD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34015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y lee el QR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4133088"/>
            <a:ext cx="82296" cy="82296"/>
          </a:xfrm>
          <a:prstGeom prst="ellipse">
            <a:avLst/>
          </a:prstGeom>
          <a:solidFill>
            <a:srgbClr val="6F9BD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39959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(Recharts)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069080" y="33832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343400" y="1645920"/>
            <a:ext cx="3429000" cy="41148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43400" y="1645920"/>
            <a:ext cx="3429000" cy="868680"/>
          </a:xfrm>
          <a:prstGeom prst="roundRect">
            <a:avLst>
              <a:gd name="adj" fmla="val 12632"/>
            </a:avLst>
          </a:prstGeom>
          <a:solidFill>
            <a:srgbClr val="3A5A8C"/>
          </a:solidFill>
          <a:ln/>
        </p:spPr>
      </p:sp>
      <p:sp>
        <p:nvSpPr>
          <p:cNvPr id="17" name="Shape 15"/>
          <p:cNvSpPr/>
          <p:nvPr/>
        </p:nvSpPr>
        <p:spPr>
          <a:xfrm>
            <a:off x="4343400" y="2103120"/>
            <a:ext cx="3429000" cy="411480"/>
          </a:xfrm>
          <a:prstGeom prst="rect">
            <a:avLst/>
          </a:prstGeom>
          <a:solidFill>
            <a:srgbClr val="3A5A8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0" y="175564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21214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17720" y="2944368"/>
            <a:ext cx="82296" cy="82296"/>
          </a:xfrm>
          <a:prstGeom prst="ellipse">
            <a:avLst/>
          </a:prstGeom>
          <a:solidFill>
            <a:srgbClr val="3A5A8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46320" y="28072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REST, 25 endpoints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17720" y="3538728"/>
            <a:ext cx="82296" cy="82296"/>
          </a:xfrm>
          <a:prstGeom prst="ellipse">
            <a:avLst/>
          </a:prstGeom>
          <a:solidFill>
            <a:srgbClr val="3A5A8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46320" y="34015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JWT (8h)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17720" y="4133088"/>
            <a:ext cx="82296" cy="82296"/>
          </a:xfrm>
          <a:prstGeom prst="ellipse">
            <a:avLst/>
          </a:prstGeom>
          <a:solidFill>
            <a:srgbClr val="3A5A8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846320" y="39959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para contraseñas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0" y="33832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8046720" y="1645920"/>
            <a:ext cx="3429000" cy="41148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046720" y="1645920"/>
            <a:ext cx="3429000" cy="868680"/>
          </a:xfrm>
          <a:prstGeom prst="roundRect">
            <a:avLst>
              <a:gd name="adj" fmla="val 12632"/>
            </a:avLst>
          </a:prstGeom>
          <a:solidFill>
            <a:srgbClr val="24344D"/>
          </a:solidFill>
          <a:ln/>
        </p:spPr>
      </p:sp>
      <p:sp>
        <p:nvSpPr>
          <p:cNvPr id="29" name="Shape 27"/>
          <p:cNvSpPr/>
          <p:nvPr/>
        </p:nvSpPr>
        <p:spPr>
          <a:xfrm>
            <a:off x="8046720" y="2103120"/>
            <a:ext cx="3429000" cy="411480"/>
          </a:xfrm>
          <a:prstGeom prst="rect">
            <a:avLst/>
          </a:prstGeom>
          <a:solidFill>
            <a:srgbClr val="24344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75320" y="175564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datos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8275320" y="21214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321040" y="2944368"/>
            <a:ext cx="82296" cy="82296"/>
          </a:xfrm>
          <a:prstGeom prst="ellipse">
            <a:avLst/>
          </a:prstGeom>
          <a:solidFill>
            <a:srgbClr val="24344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549640" y="28072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entidades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321040" y="3538728"/>
            <a:ext cx="82296" cy="82296"/>
          </a:xfrm>
          <a:prstGeom prst="ellipse">
            <a:avLst/>
          </a:prstGeom>
          <a:solidFill>
            <a:srgbClr val="24344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49640" y="34015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lógica (sin DELETE físico)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321040" y="4133088"/>
            <a:ext cx="82296" cy="82296"/>
          </a:xfrm>
          <a:prstGeom prst="ellipse">
            <a:avLst/>
          </a:prstGeom>
          <a:solidFill>
            <a:srgbClr val="24344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549640" y="39959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 referencial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Comunicación: JSON sobre HTTP, con CORS habilitado. Todas las rutas (salvo login) exigen token JWT.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datos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554480"/>
            <a:ext cx="5120640" cy="502920"/>
          </a:xfrm>
          <a:prstGeom prst="roundRect">
            <a:avLst>
              <a:gd name="adj" fmla="val 18182"/>
            </a:avLst>
          </a:prstGeom>
          <a:solidFill>
            <a:srgbClr val="6F9BD1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28800"/>
            <a:ext cx="5120640" cy="228600"/>
          </a:xfrm>
          <a:prstGeom prst="rect">
            <a:avLst/>
          </a:prstGeom>
          <a:solidFill>
            <a:srgbClr val="6F9BD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5544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Proveedor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id_proveedor PK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contacto, telefono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155448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1554480"/>
            <a:ext cx="5120640" cy="502920"/>
          </a:xfrm>
          <a:prstGeom prst="roundRect">
            <a:avLst>
              <a:gd name="adj" fmla="val 18182"/>
            </a:avLst>
          </a:prstGeom>
          <a:solidFill>
            <a:srgbClr val="3A5A8C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0" y="1828800"/>
            <a:ext cx="5120640" cy="228600"/>
          </a:xfrm>
          <a:prstGeom prst="rect">
            <a:avLst/>
          </a:prstGeom>
          <a:solidFill>
            <a:srgbClr val="3A5A8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29400" y="15544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Usuario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id_usuario PK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rol: calidad / logistica / supervision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374904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749040"/>
            <a:ext cx="5120640" cy="502920"/>
          </a:xfrm>
          <a:prstGeom prst="roundRect">
            <a:avLst>
              <a:gd name="adj" fmla="val 18182"/>
            </a:avLst>
          </a:prstGeom>
          <a:solidFill>
            <a:srgbClr val="24344D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4023360"/>
            <a:ext cx="5120640" cy="228600"/>
          </a:xfrm>
          <a:prstGeom prst="rect">
            <a:avLst/>
          </a:prstGeom>
          <a:solidFill>
            <a:srgbClr val="24344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3749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MateriaPrima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id_materia_prima PK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4800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id_proveedor FK, id_lote_produccion FK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5212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disponible / utilizada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0" y="374904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0" y="3749040"/>
            <a:ext cx="5120640" cy="502920"/>
          </a:xfrm>
          <a:prstGeom prst="roundRect">
            <a:avLst>
              <a:gd name="adj" fmla="val 18182"/>
            </a:avLst>
          </a:prstGeom>
          <a:solidFill>
            <a:srgbClr val="C45B4F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0" y="4023360"/>
            <a:ext cx="5120640" cy="228600"/>
          </a:xfrm>
          <a:prstGeom prst="rect">
            <a:avLst/>
          </a:prstGeom>
          <a:solidFill>
            <a:srgbClr val="C45B4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629400" y="3749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LoteProduccion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67512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id_lote_produccion PK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675120" y="4800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id_usuario_responsable FK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675120" y="5212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en_proceso / finalizado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Decisión: ninguna tabla se borra físicamente. "Dar de baja" = activo = false, para no perder la trazabilidad de datos ya referenciados.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Etiqueta QR y trazabilidad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94360" cy="594360"/>
          </a:xfrm>
          <a:prstGeom prst="ellipse">
            <a:avLst/>
          </a:prstGeom>
          <a:solidFill>
            <a:srgbClr val="24344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37260" y="2331720"/>
            <a:ext cx="0" cy="457200"/>
          </a:xfrm>
          <a:prstGeom prst="line">
            <a:avLst/>
          </a:prstGeom>
          <a:noFill/>
          <a:ln w="25400">
            <a:solidFill>
              <a:srgbClr val="6F9BD1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463040" y="1691640"/>
            <a:ext cx="60350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73736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Registrar materia prima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20848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carga nombre, proveedor y fecha de ingreso.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594360" cy="594360"/>
          </a:xfrm>
          <a:prstGeom prst="ellipse">
            <a:avLst/>
          </a:prstGeom>
          <a:solidFill>
            <a:srgbClr val="24344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788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37260" y="3383280"/>
            <a:ext cx="0" cy="457200"/>
          </a:xfrm>
          <a:prstGeom prst="line">
            <a:avLst/>
          </a:prstGeom>
          <a:noFill/>
          <a:ln w="25400">
            <a:solidFill>
              <a:srgbClr val="6F9BD1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463040" y="2743200"/>
            <a:ext cx="60350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737360" y="2788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 generado automático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31363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arma una etiqueta descargable (PNG) con un link a la trazabilidad de esa MP.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594360" cy="594360"/>
          </a:xfrm>
          <a:prstGeom prst="ellipse">
            <a:avLst/>
          </a:prstGeom>
          <a:solidFill>
            <a:srgbClr val="24344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840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37260" y="4434840"/>
            <a:ext cx="0" cy="457200"/>
          </a:xfrm>
          <a:prstGeom prst="line">
            <a:avLst/>
          </a:prstGeom>
          <a:noFill/>
          <a:ln w="25400">
            <a:solidFill>
              <a:srgbClr val="6F9BD1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463040" y="3794760"/>
            <a:ext cx="60350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1737360" y="3840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Asociar a un lote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1737360" y="418795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asocia la MP disponible a un lote de producción.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892040"/>
            <a:ext cx="594360" cy="594360"/>
          </a:xfrm>
          <a:prstGeom prst="ellipse">
            <a:avLst/>
          </a:prstGeom>
          <a:solidFill>
            <a:srgbClr val="24344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4892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1463040" y="4846320"/>
            <a:ext cx="60350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1737360" y="4892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Escanear y consultar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1737360" y="523951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celular en la misma red y con sesión iniciada, escaneando el QR, abre directo la trazabilidad — sin tipear nada.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955280" y="173736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1C2B40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229600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codifica el QR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229600" y="2468880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8467344" y="2468880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8705088" y="2468880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9180576" y="2468880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9656064" y="2468880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9893808" y="2468880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31552" y="2468880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8229600" y="2706624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8705088" y="2706624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9418320" y="2706624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10131552" y="2706624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8229600" y="2944368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8705088" y="2944368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9180576" y="2944368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9656064" y="2944368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10131552" y="2944368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9180576" y="3182112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9418320" y="3182112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44"/>
          <p:cNvSpPr/>
          <p:nvPr/>
        </p:nvSpPr>
        <p:spPr>
          <a:xfrm>
            <a:off x="8229600" y="3419856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45"/>
          <p:cNvSpPr/>
          <p:nvPr/>
        </p:nvSpPr>
        <p:spPr>
          <a:xfrm>
            <a:off x="8467344" y="3419856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46"/>
          <p:cNvSpPr/>
          <p:nvPr/>
        </p:nvSpPr>
        <p:spPr>
          <a:xfrm>
            <a:off x="8942832" y="3419856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Shape 47"/>
          <p:cNvSpPr/>
          <p:nvPr/>
        </p:nvSpPr>
        <p:spPr>
          <a:xfrm>
            <a:off x="9418320" y="3419856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9893808" y="3419856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hape 49"/>
          <p:cNvSpPr/>
          <p:nvPr/>
        </p:nvSpPr>
        <p:spPr>
          <a:xfrm>
            <a:off x="10131552" y="3419856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50"/>
          <p:cNvSpPr/>
          <p:nvPr/>
        </p:nvSpPr>
        <p:spPr>
          <a:xfrm>
            <a:off x="8705088" y="3657600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Shape 51"/>
          <p:cNvSpPr/>
          <p:nvPr/>
        </p:nvSpPr>
        <p:spPr>
          <a:xfrm>
            <a:off x="9180576" y="3657600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Shape 52"/>
          <p:cNvSpPr/>
          <p:nvPr/>
        </p:nvSpPr>
        <p:spPr>
          <a:xfrm>
            <a:off x="9656064" y="3657600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Shape 53"/>
          <p:cNvSpPr/>
          <p:nvPr/>
        </p:nvSpPr>
        <p:spPr>
          <a:xfrm>
            <a:off x="8229600" y="3895344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hape 54"/>
          <p:cNvSpPr/>
          <p:nvPr/>
        </p:nvSpPr>
        <p:spPr>
          <a:xfrm>
            <a:off x="8705088" y="3895344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Shape 55"/>
          <p:cNvSpPr/>
          <p:nvPr/>
        </p:nvSpPr>
        <p:spPr>
          <a:xfrm>
            <a:off x="9180576" y="3895344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56"/>
          <p:cNvSpPr/>
          <p:nvPr/>
        </p:nvSpPr>
        <p:spPr>
          <a:xfrm>
            <a:off x="9656064" y="3895344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Shape 57"/>
          <p:cNvSpPr/>
          <p:nvPr/>
        </p:nvSpPr>
        <p:spPr>
          <a:xfrm>
            <a:off x="10131552" y="3895344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Shape 58"/>
          <p:cNvSpPr/>
          <p:nvPr/>
        </p:nvSpPr>
        <p:spPr>
          <a:xfrm>
            <a:off x="8229600" y="4133088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Shape 59"/>
          <p:cNvSpPr/>
          <p:nvPr/>
        </p:nvSpPr>
        <p:spPr>
          <a:xfrm>
            <a:off x="8942832" y="4133088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Shape 60"/>
          <p:cNvSpPr/>
          <p:nvPr/>
        </p:nvSpPr>
        <p:spPr>
          <a:xfrm>
            <a:off x="9656064" y="4133088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Shape 61"/>
          <p:cNvSpPr/>
          <p:nvPr/>
        </p:nvSpPr>
        <p:spPr>
          <a:xfrm>
            <a:off x="10131552" y="4133088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Shape 62"/>
          <p:cNvSpPr/>
          <p:nvPr/>
        </p:nvSpPr>
        <p:spPr>
          <a:xfrm>
            <a:off x="8229600" y="4370832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Shape 63"/>
          <p:cNvSpPr/>
          <p:nvPr/>
        </p:nvSpPr>
        <p:spPr>
          <a:xfrm>
            <a:off x="8467344" y="4370832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Shape 64"/>
          <p:cNvSpPr/>
          <p:nvPr/>
        </p:nvSpPr>
        <p:spPr>
          <a:xfrm>
            <a:off x="8705088" y="4370832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Shape 65"/>
          <p:cNvSpPr/>
          <p:nvPr/>
        </p:nvSpPr>
        <p:spPr>
          <a:xfrm>
            <a:off x="9180576" y="4370832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Shape 66"/>
          <p:cNvSpPr/>
          <p:nvPr/>
        </p:nvSpPr>
        <p:spPr>
          <a:xfrm>
            <a:off x="9418320" y="4370832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Shape 67"/>
          <p:cNvSpPr/>
          <p:nvPr/>
        </p:nvSpPr>
        <p:spPr>
          <a:xfrm>
            <a:off x="9656064" y="4370832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Shape 68"/>
          <p:cNvSpPr/>
          <p:nvPr/>
        </p:nvSpPr>
        <p:spPr>
          <a:xfrm>
            <a:off x="10131552" y="4370832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8229600" y="4800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una URL con el ID de la materia prima — no los datos. Los datos siempre se leen en vivo desde PostgreSQL, así la etiqueta impresa nunca queda desactualizada.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y permisos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4754880" cy="566928"/>
          </a:xfrm>
          <a:prstGeom prst="rect">
            <a:avLst/>
          </a:prstGeom>
          <a:solidFill>
            <a:srgbClr val="1C2B40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94960" y="1645920"/>
            <a:ext cx="2011680" cy="566928"/>
          </a:xfrm>
          <a:prstGeom prst="rect">
            <a:avLst/>
          </a:prstGeom>
          <a:solidFill>
            <a:srgbClr val="1C2B40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532120" y="16459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406640" y="1645920"/>
            <a:ext cx="2011680" cy="566928"/>
          </a:xfrm>
          <a:prstGeom prst="rect">
            <a:avLst/>
          </a:prstGeom>
          <a:solidFill>
            <a:srgbClr val="1C2B40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43800" y="16459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418320" y="1645920"/>
            <a:ext cx="2011680" cy="566928"/>
          </a:xfrm>
          <a:prstGeom prst="rect">
            <a:avLst/>
          </a:prstGeom>
          <a:solidFill>
            <a:srgbClr val="1C2B40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555480" y="16459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Supervisión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212848"/>
            <a:ext cx="4754880" cy="566928"/>
          </a:xfrm>
          <a:prstGeom prst="rect">
            <a:avLst/>
          </a:prstGeom>
          <a:solidFill>
            <a:srgbClr val="EEF1F6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21284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Proveedor: crear / editar / baja (solo API)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94960" y="2212848"/>
            <a:ext cx="2011680" cy="566928"/>
          </a:xfrm>
          <a:prstGeom prst="rect">
            <a:avLst/>
          </a:prstGeom>
          <a:solidFill>
            <a:srgbClr val="EEF1F6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32120" y="221284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06640" y="2212848"/>
            <a:ext cx="2011680" cy="566928"/>
          </a:xfrm>
          <a:prstGeom prst="rect">
            <a:avLst/>
          </a:prstGeom>
          <a:solidFill>
            <a:srgbClr val="EEF1F6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43800" y="221284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9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418320" y="2212848"/>
            <a:ext cx="2011680" cy="566928"/>
          </a:xfrm>
          <a:prstGeom prst="rect">
            <a:avLst/>
          </a:prstGeom>
          <a:solidFill>
            <a:srgbClr val="EEF1F6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555480" y="221284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2779776"/>
            <a:ext cx="47548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277977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 prima: crear / editar / baja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394960" y="2779776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32120" y="277977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406640" y="2779776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43800" y="277977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9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418320" y="2779776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555480" y="277977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3346704"/>
            <a:ext cx="4754880" cy="566928"/>
          </a:xfrm>
          <a:prstGeom prst="rect">
            <a:avLst/>
          </a:prstGeom>
          <a:solidFill>
            <a:srgbClr val="EEF1F6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3346704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Asociar materia prima a lote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394960" y="3346704"/>
            <a:ext cx="2011680" cy="566928"/>
          </a:xfrm>
          <a:prstGeom prst="rect">
            <a:avLst/>
          </a:prstGeom>
          <a:solidFill>
            <a:srgbClr val="EEF1F6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532120" y="334670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9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406640" y="3346704"/>
            <a:ext cx="2011680" cy="566928"/>
          </a:xfrm>
          <a:prstGeom prst="rect">
            <a:avLst/>
          </a:prstGeom>
          <a:solidFill>
            <a:srgbClr val="EEF1F6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543800" y="334670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418320" y="3346704"/>
            <a:ext cx="2011680" cy="566928"/>
          </a:xfrm>
          <a:prstGeom prst="rect">
            <a:avLst/>
          </a:prstGeom>
          <a:solidFill>
            <a:srgbClr val="EEF1F6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555480" y="334670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40080" y="3913632"/>
            <a:ext cx="47548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" y="391363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Lote: crear / editar / baja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394960" y="3913632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532120" y="391363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9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406640" y="3913632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543800" y="391363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9418320" y="3913632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555480" y="391363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40080" y="4480560"/>
            <a:ext cx="4754880" cy="566928"/>
          </a:xfrm>
          <a:prstGeom prst="rect">
            <a:avLst/>
          </a:prstGeom>
          <a:solidFill>
            <a:srgbClr val="EEF1F6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77240" y="448056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(trazabilidad, reportes)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394960" y="4480560"/>
            <a:ext cx="2011680" cy="566928"/>
          </a:xfrm>
          <a:prstGeom prst="rect">
            <a:avLst/>
          </a:prstGeom>
          <a:solidFill>
            <a:srgbClr val="EEF1F6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532120" y="448056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7406640" y="4480560"/>
            <a:ext cx="2011680" cy="566928"/>
          </a:xfrm>
          <a:prstGeom prst="rect">
            <a:avLst/>
          </a:prstGeom>
          <a:solidFill>
            <a:srgbClr val="EEF1F6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543800" y="448056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9418320" y="4480560"/>
            <a:ext cx="2011680" cy="566928"/>
          </a:xfrm>
          <a:prstGeom prst="rect">
            <a:avLst/>
          </a:prstGeom>
          <a:solidFill>
            <a:srgbClr val="EEF1F6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555480" y="448056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40080" y="5047488"/>
            <a:ext cx="47548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77240" y="504748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usuarios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5394960" y="5047488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532120" y="504748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9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7406640" y="5047488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543800" y="504748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9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9418320" y="5047488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555480" y="504748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640080" y="588873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reforzado por middleware en el backend (verificarToken + verificarRol), no solo ocultando botones en el front.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45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70/70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23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aserciones Postman (Newman)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3429000" y="1645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3A5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8/8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2423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del escenario E2E (Playwright)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645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45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2423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detectados y corregidos (H1–H6)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006840" y="16459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9006840" y="24231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documentados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971800"/>
            <a:ext cx="10881360" cy="0"/>
          </a:xfrm>
          <a:prstGeom prst="line">
            <a:avLst/>
          </a:prstGeom>
          <a:noFill/>
          <a:ln w="12700">
            <a:solidFill>
              <a:srgbClr val="DCE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246120"/>
            <a:ext cx="1088136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2461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3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24612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Escalada de privilegios en usuarios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012680" y="324612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721608"/>
            <a:ext cx="10881360" cy="475488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3721608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3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72160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 utilizada se podía reasignar a otro lote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012680" y="372160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197096"/>
            <a:ext cx="1088136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19709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3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197096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 utilizada se podía seguir editando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012680" y="419709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672584"/>
            <a:ext cx="10881360" cy="475488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4672584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3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417320" y="467258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un lote sin "estado" reabría uno finalizado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012680" y="467258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5148072"/>
            <a:ext cx="1088136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514807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3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417320" y="514807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repetido devolvía 200 en vez de 404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012680" y="514807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5623560"/>
            <a:ext cx="10881360" cy="475488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77240" y="562356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3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417320" y="562356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Faltaba el endpoint de trazabilidad hacia adelante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0012680" y="562356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de IA en el desarrollo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usó Claude (Anthropic) como asistente de desarrollo, con registro de cada decisión en bitácoras — una por semana de trabajo.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59152"/>
            <a:ext cx="548640" cy="548640"/>
          </a:xfrm>
          <a:prstGeom prst="ellipse">
            <a:avLst/>
          </a:prstGeom>
          <a:solidFill>
            <a:srgbClr val="6F9BD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359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240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 propuesta se revisó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60604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el código real del proyecto antes de aplicarla (ej.: se corrigió una propuesta que apuntaba a la pantalla equivocada de trazabilidad).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33756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593592"/>
            <a:ext cx="548640" cy="548640"/>
          </a:xfrm>
          <a:prstGeom prst="ellipse">
            <a:avLst/>
          </a:prstGeom>
          <a:solidFill>
            <a:srgbClr val="3A5A8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593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47472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decisiones de diseño quedaron registradas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384048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"por qué", no solo el "qué" — alternativas consideradas y motivo de la elegida.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57200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828032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828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70916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se probó antes de darlo por hecho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507492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Postman/Newman, el escenario E2E, y pruebas manuales con capturas.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 y mejoras futuras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6012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 conocidas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60120" y="2542032"/>
            <a:ext cx="82296" cy="82296"/>
          </a:xfrm>
          <a:prstGeom prst="ellipse">
            <a:avLst/>
          </a:prstGeom>
          <a:solidFill>
            <a:srgbClr val="6F9BD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88720" y="219456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URL del QR incluye la IP de la PC: si cambia la red, las etiquetas ya impresas dejan de abrir.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60120" y="3410712"/>
            <a:ext cx="82296" cy="82296"/>
          </a:xfrm>
          <a:prstGeom prst="ellipse">
            <a:avLst/>
          </a:prstGeom>
          <a:solidFill>
            <a:srgbClr val="6F9BD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88720" y="306324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consultar hace falta un celular en la misma red y con sesión iniciada (rutas protegidas por JWT).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60120" y="4279392"/>
            <a:ext cx="82296" cy="82296"/>
          </a:xfrm>
          <a:prstGeom prst="ellipse">
            <a:avLst/>
          </a:prstGeom>
          <a:solidFill>
            <a:srgbClr val="6F9BD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88720" y="393192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gestión de proveedores existe en la API, pero no tiene pantalla en esta versión.</a:t>
            </a:r>
            <a:endParaRPr lang="en-US" sz="1250" dirty="0"/>
          </a:p>
        </p:txBody>
      </p:sp>
      <p:sp>
        <p:nvSpPr>
          <p:cNvPr id="26" name="Shape 26"/>
          <p:cNvSpPr/>
          <p:nvPr/>
        </p:nvSpPr>
        <p:spPr>
          <a:xfrm>
            <a:off x="960120" y="5148072"/>
            <a:ext cx="82296" cy="82296"/>
          </a:xfrm>
          <a:prstGeom prst="ellipse">
            <a:avLst/>
          </a:prstGeom>
          <a:solidFill>
            <a:srgbClr val="6F9BD1"/>
          </a:solidFill>
          <a:ln/>
        </p:spPr>
      </p:sp>
      <p:sp>
        <p:nvSpPr>
          <p:cNvPr id="27" name="Text 27"/>
          <p:cNvSpPr txBox="1"/>
          <p:nvPr/>
        </p:nvSpPr>
        <p:spPr>
          <a:xfrm>
            <a:off x="1188720" y="48006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darse de baja a sí mismo" se controla solo en el frontend, y la pantalla de Usuarios no tiene pruebas automatizadas.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155448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1C2B40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4652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Mejoras futuras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46520" y="2542032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75120" y="21945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el servidor con dominio o IP fija, para que las etiquetas no dependan de la red local.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46520" y="3410712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0" y="30632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Lector de QR integrado en la app (hoy se usa la cámara del celular).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46520" y="4279392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39319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de gestión de proveedores para el rol Calidad.</a:t>
            </a:r>
            <a:endParaRPr lang="en-US" sz="1250" dirty="0"/>
          </a:p>
        </p:txBody>
      </p:sp>
      <p:sp>
        <p:nvSpPr>
          <p:cNvPr id="28" name="Shape 28"/>
          <p:cNvSpPr/>
          <p:nvPr/>
        </p:nvSpPr>
        <p:spPr>
          <a:xfrm>
            <a:off x="6446520" y="5148072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9" name="Text 29"/>
          <p:cNvSpPr txBox="1"/>
          <p:nvPr/>
        </p:nvSpPr>
        <p:spPr>
          <a:xfrm>
            <a:off x="6675120" y="48006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la auto-baja en el backend y sumar la gestión de usuarios a Newman y al escenario E2E.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 y aprendizajes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6012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técnico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60120" y="2395728"/>
            <a:ext cx="82296" cy="82296"/>
          </a:xfrm>
          <a:prstGeom prst="ellipse">
            <a:avLst/>
          </a:prstGeom>
          <a:solidFill>
            <a:srgbClr val="6F9BD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88720" y="21945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bidireccional completa, con QR real y datos siempre vigentes (no se imprimen datos, solo un link).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60120" y="3401568"/>
            <a:ext cx="82296" cy="82296"/>
          </a:xfrm>
          <a:prstGeom prst="ellipse">
            <a:avLst/>
          </a:prstGeom>
          <a:solidFill>
            <a:srgbClr val="6F9BD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88720" y="32004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por rol verificada con pruebas automatizadas, no solo "a ojo".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60120" y="4407408"/>
            <a:ext cx="82296" cy="82296"/>
          </a:xfrm>
          <a:prstGeom prst="ellipse">
            <a:avLst/>
          </a:prstGeom>
          <a:solidFill>
            <a:srgbClr val="6F9BD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88720" y="42062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hallazgos de seguridad/consistencia encontrados y corregidos con evidencia (Newman, E2E).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155448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1C2B40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4652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Aprendizajes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46520" y="2395728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75120" y="21945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IA como asistente exige revisar cada propuesta contra el código real — no se puede aceptar a ciegas.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46520" y="3401568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0" y="32004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las decisiones (y no solo el código) fue tan importante como el código en sí.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46520" y="4407408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42062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pruebas automatizadas encontraron errores que a simple vista no se veían (H1–H6): probar es parte de desarrollar, no un paso final.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3172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 por su atención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laspi">
  <a:themeElements>
    <a:clrScheme name="Helaspi">
      <a:dk1>
        <a:srgbClr val="1C2B40"/>
      </a:dk1>
      <a:lt1>
        <a:srgbClr val="FFFFFF"/>
      </a:lt1>
      <a:dk2>
        <a:srgbClr val="3A5A8C"/>
      </a:dk2>
      <a:lt2>
        <a:srgbClr val="F5F6F8"/>
      </a:lt2>
      <a:accent1>
        <a:srgbClr val="6F9BD1"/>
      </a:accent1>
      <a:accent2>
        <a:srgbClr val="F2A541"/>
      </a:accent2>
      <a:accent3>
        <a:srgbClr val="97BC62"/>
      </a:accent3>
      <a:accent4>
        <a:srgbClr val="C45B4F"/>
      </a:accent4>
      <a:accent5>
        <a:srgbClr val="9FC1E6"/>
      </a:accent5>
      <a:accent6>
        <a:srgbClr val="24344D"/>
      </a:accent6>
      <a:hlink>
        <a:srgbClr val="3A5A8C"/>
      </a:hlink>
      <a:folHlink>
        <a:srgbClr val="6F9BD1"/>
      </a:folHlink>
    </a:clrScheme>
    <a:fontScheme name="Helasp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Helaspi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Trazabilidad por QR - Helaspi</dc:title>
  <dc:subject>PptxGenJS Presentation</dc:subject>
  <dc:creator>Guillermo Vivas</dc:creator>
  <cp:lastModifiedBy>Guillermo Vivas</cp:lastModifiedBy>
  <cp:revision>1</cp:revision>
  <dcterms:created xsi:type="dcterms:W3CDTF">2026-10-07T22:59:22Z</dcterms:created>
  <dcterms:modified xsi:type="dcterms:W3CDTF">2026-10-07T22:59:22Z</dcterms:modified>
</cp:coreProperties>
</file>